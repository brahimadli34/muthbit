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افتتاح: اسم الأداة والمسار والروابط.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725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مُثبِت</a:t>
            </a:r>
            <a:endParaRPr lang="ar-SA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ذكية للتحقق من الأحاديث والنصوص الشرعية المتداولة</a:t>
            </a:r>
            <a:endParaRPr lang="ar-SA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AFC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الرابع: أدوات المعرفة والتحقق لتمكين المعرّفين بالإسلام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التطبيق: </a:t>
            </a:r>
            <a:pPr algn="r" indent="0" marL="0">
              <a:buNone/>
            </a:pPr>
            <a:r>
              <a:rPr lang="ar-SA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https://muthbit.sgpdz.com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المستودع: </a:t>
            </a:r>
            <a:pPr algn="r" indent="0" marL="0">
              <a:buNone/>
            </a:pPr>
            <a:r>
              <a:rPr lang="ar-SA" alt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https://github.com/Brahimadli34/muthbit</a:t>
            </a:r>
            <a:endParaRPr lang="ar-SA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ar-SA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منشورات يومية تنسب إلى النبي ﷺ ما لم يقله، والتحقق منها بطيء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8074152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25912" y="2194560"/>
            <a:ext cx="548640" cy="548640"/>
          </a:xfrm>
          <a:prstGeom prst="ellipse">
            <a:avLst/>
          </a:prstGeom>
          <a:solidFill>
            <a:srgbClr val="9C2F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348472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انتشار المكذوب والمحرّف</a:t>
            </a:r>
            <a:endParaRPr lang="ar-SA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348472" y="3520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أحاديث موضوعة أو ضعيفة، ونصوص صحيحة بلفظ محرّف، وأقوال تُنسب لغير قائليها، تُنشر مع «انشرها تؤجر».</a:t>
            </a:r>
            <a:endParaRPr lang="ar-SA" sz="1500" dirty="0"/>
          </a:p>
        </p:txBody>
      </p:sp>
      <p:sp>
        <p:nvSpPr>
          <p:cNvPr id="8" name="Shape 6"/>
          <p:cNvSpPr/>
          <p:nvPr/>
        </p:nvSpPr>
        <p:spPr>
          <a:xfrm>
            <a:off x="4416552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68312" y="2194560"/>
            <a:ext cx="548640" cy="548640"/>
          </a:xfrm>
          <a:prstGeom prst="ellipse">
            <a:avLst/>
          </a:prstGeom>
          <a:solidFill>
            <a:srgbClr val="8A5A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90872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يدوي بطيء</a:t>
            </a:r>
            <a:endParaRPr lang="ar-SA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3520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يبحث المختص عن كل نص في عدة مصادر، ويقارن الألفاظ، ويجمع أحكام المحدّثين، ثم يكتب الرد.</a:t>
            </a:r>
            <a:endParaRPr lang="ar-SA" sz="1500" dirty="0"/>
          </a:p>
        </p:txBody>
      </p:sp>
      <p:sp>
        <p:nvSpPr>
          <p:cNvPr id="12" name="Shape 10"/>
          <p:cNvSpPr/>
          <p:nvPr/>
        </p:nvSpPr>
        <p:spPr>
          <a:xfrm>
            <a:off x="758952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2194560"/>
            <a:ext cx="548640" cy="548640"/>
          </a:xfrm>
          <a:prstGeom prst="ellipse">
            <a:avLst/>
          </a:prstGeom>
          <a:solidFill>
            <a:srgbClr val="5662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33272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عامة تخترع المصادر</a:t>
            </a:r>
            <a:endParaRPr lang="ar-SA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3520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النماذج اللغوية العامة قد تذكر كتاباً ورقماً لا وجود لهما، فتزيد المشكلة بدل أن تحلّها.</a:t>
            </a:r>
            <a:endParaRPr lang="ar-SA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المستفيد: المعرّفون بالإسلام والدعاة والباحثون ومشرفو المحتوى، ثم الجمهور الذي يتلقى محتوى موثقاً.</a:t>
            </a:r>
            <a:endParaRPr lang="ar-SA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الصق المنشور كما وصلك</a:t>
            </a:r>
            <a:endParaRPr lang="ar-SA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 مراحل من النص المتداول إلى نتيجة موثقة لكل نص فيه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8897112" y="192024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0192" y="2148840"/>
            <a:ext cx="502920" cy="502920"/>
          </a:xfrm>
          <a:prstGeom prst="ellipse">
            <a:avLst/>
          </a:prstGeom>
          <a:solidFill>
            <a:srgbClr val="2E6B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8019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25712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استخراج النصوص</a:t>
            </a:r>
            <a:endParaRPr lang="ar-SA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25712" y="3429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لغوي يفصل كل نص منسوب عن الكلام المحيط، ويُحذف أي نص لا يوجد حرفياً في المنشور</a:t>
            </a:r>
            <a:endParaRPr lang="ar-SA" sz="1400" dirty="0"/>
          </a:p>
        </p:txBody>
      </p:sp>
      <p:sp>
        <p:nvSpPr>
          <p:cNvPr id="9" name="Shape 7"/>
          <p:cNvSpPr/>
          <p:nvPr/>
        </p:nvSpPr>
        <p:spPr>
          <a:xfrm>
            <a:off x="6153912" y="192024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36992" y="2148840"/>
            <a:ext cx="502920" cy="502920"/>
          </a:xfrm>
          <a:prstGeom prst="ellipse">
            <a:avLst/>
          </a:prstGeom>
          <a:solidFill>
            <a:srgbClr val="2E6B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3699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المحلية</a:t>
            </a:r>
            <a:endParaRPr lang="ar-SA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3429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63,530 رواية من الكتب التسعة و6,236 آية، مع تقديم الصحيحين و«المتفق عليه» من التخريج</a:t>
            </a:r>
            <a:endParaRPr lang="ar-SA" sz="1400" dirty="0"/>
          </a:p>
        </p:txBody>
      </p:sp>
      <p:sp>
        <p:nvSpPr>
          <p:cNvPr id="14" name="Shape 12"/>
          <p:cNvSpPr/>
          <p:nvPr/>
        </p:nvSpPr>
        <p:spPr>
          <a:xfrm>
            <a:off x="3410712" y="192024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93792" y="2148840"/>
            <a:ext cx="502920" cy="502920"/>
          </a:xfrm>
          <a:prstGeom prst="ellipse">
            <a:avLst/>
          </a:prstGeom>
          <a:solidFill>
            <a:srgbClr val="2E6B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9379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39312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الدرر السنية</a:t>
            </a:r>
            <a:endParaRPr lang="ar-SA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639312" y="3429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 ليس في القاعدة: أحكام المحدّثين مجمّعة حسب الصحابي، والمعتمدون أولاً</a:t>
            </a:r>
            <a:endParaRPr lang="ar-SA" sz="1400" dirty="0"/>
          </a:p>
        </p:txBody>
      </p:sp>
      <p:sp>
        <p:nvSpPr>
          <p:cNvPr id="19" name="Shape 17"/>
          <p:cNvSpPr/>
          <p:nvPr/>
        </p:nvSpPr>
        <p:spPr>
          <a:xfrm>
            <a:off x="667512" y="192024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2148840"/>
            <a:ext cx="502920" cy="502920"/>
          </a:xfrm>
          <a:prstGeom prst="ellipse">
            <a:avLst/>
          </a:prstGeom>
          <a:solidFill>
            <a:srgbClr val="2E6B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5059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أو الامتناع</a:t>
            </a:r>
            <a:endParaRPr lang="ar-SA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3429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اللفظ الأصلي والمصدر والحكم، أو «لم نجد مرجعاً كافياً، يُرجع إلى مختص»</a:t>
            </a:r>
            <a:endParaRPr lang="ar-SA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i="1" dirty="0">
                <a:solidFill>
                  <a:srgbClr val="2E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حية: «إنما الأعمال بالنيات» ← تأكيد، متفق عليه: البخاري 1، مسلم 1907</a:t>
            </a:r>
            <a:endParaRPr lang="ar-SA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النموذج يفهم، والمصدر يحكم</a:t>
            </a:r>
            <a:endParaRPr lang="ar-SA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rgbClr val="AFC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الحكم لا يكتبه نموذج لغوي أبداً: يُنقل من المصدر حرفياً بقرار حتمي مختبَر، وعند الشك تمتنع الأداة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8074152" y="2103120"/>
            <a:ext cx="3566160" cy="594360"/>
          </a:xfrm>
          <a:prstGeom prst="roundRect">
            <a:avLst>
              <a:gd name="adj" fmla="val 49231"/>
            </a:avLst>
          </a:prstGeom>
          <a:solidFill>
            <a:srgbClr val="2E6B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74152" y="2103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مع المصدر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16552" y="2103120"/>
            <a:ext cx="3566160" cy="594360"/>
          </a:xfrm>
          <a:prstGeom prst="roundRect">
            <a:avLst>
              <a:gd name="adj" fmla="val 49231"/>
            </a:avLst>
          </a:prstGeom>
          <a:solidFill>
            <a:srgbClr val="2F638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16552" y="2103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مع بيان اختلاف اللفظ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" y="2103120"/>
            <a:ext cx="3566160" cy="594360"/>
          </a:xfrm>
          <a:prstGeom prst="roundRect">
            <a:avLst>
              <a:gd name="adj" fmla="val 49231"/>
            </a:avLst>
          </a:prstGeom>
          <a:solidFill>
            <a:srgbClr val="8A5A0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" y="2103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تضعيف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74152" y="2880360"/>
            <a:ext cx="3566160" cy="594360"/>
          </a:xfrm>
          <a:prstGeom prst="roundRect">
            <a:avLst>
              <a:gd name="adj" fmla="val 49231"/>
            </a:avLst>
          </a:prstGeom>
          <a:solidFill>
            <a:srgbClr val="9C2F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74152" y="2880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 الوضع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16552" y="2880360"/>
            <a:ext cx="3566160" cy="594360"/>
          </a:xfrm>
          <a:prstGeom prst="roundRect">
            <a:avLst>
              <a:gd name="adj" fmla="val 49231"/>
            </a:avLst>
          </a:prstGeom>
          <a:solidFill>
            <a:srgbClr val="6F53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6552" y="2880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تصحيح النسبة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8952" y="2880360"/>
            <a:ext cx="3566160" cy="594360"/>
          </a:xfrm>
          <a:prstGeom prst="roundRect">
            <a:avLst>
              <a:gd name="adj" fmla="val 49231"/>
            </a:avLst>
          </a:prstGeom>
          <a:solidFill>
            <a:srgbClr val="5E459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" y="2880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أحكام متعارضة دون ترجيح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74152" y="3657600"/>
            <a:ext cx="3566160" cy="594360"/>
          </a:xfrm>
          <a:prstGeom prst="roundRect">
            <a:avLst>
              <a:gd name="adj" fmla="val 49231"/>
            </a:avLst>
          </a:prstGeom>
          <a:solidFill>
            <a:srgbClr val="4D6A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74152" y="3657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حكم على الإسناد لا المتن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16552" y="3657600"/>
            <a:ext cx="3566160" cy="594360"/>
          </a:xfrm>
          <a:prstGeom prst="roundRect">
            <a:avLst>
              <a:gd name="adj" fmla="val 49231"/>
            </a:avLst>
          </a:prstGeom>
          <a:solidFill>
            <a:srgbClr val="6A5D4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3657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عزو إلى المصدر دون حكم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58952" y="3657600"/>
            <a:ext cx="3566160" cy="594360"/>
          </a:xfrm>
          <a:prstGeom prst="roundRect">
            <a:avLst>
              <a:gd name="adj" fmla="val 49231"/>
            </a:avLst>
          </a:prstGeom>
          <a:solidFill>
            <a:srgbClr val="5662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" y="3657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امتناع وإحالة إلى مختص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0916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ضمانات مختبَرة آلياً: </a:t>
            </a:r>
            <a:pPr algn="r" indent="0" marL="0">
              <a:buNone/>
            </a:pPr>
            <a:r>
              <a:rPr lang="ar-SA" altLang="en-US" sz="15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الضعيف والموضوع لا يُؤكَّدان مهما بلغ التشابه • أحكام صحابي لا تُنقل إلى حديث صحابي آخر • جدول تحويل الأحكام لا يُستعمل إلا ما راجعه المختص • الزيادة على حديث صحيح لا تُصحَّح معه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</a:t>
            </a:r>
            <a:endParaRPr lang="ar-SA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محلية كبيرة، وطبقة خارجية للأحكام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8897112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9992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rgbClr val="2E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63,530</a:t>
            </a:r>
            <a:endParaRPr lang="ar-SA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079992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رواية بمتونها من الكتب التسعة</a:t>
            </a:r>
            <a:endParaRPr lang="ar-SA" sz="1400" dirty="0"/>
          </a:p>
        </p:txBody>
      </p:sp>
      <p:sp>
        <p:nvSpPr>
          <p:cNvPr id="7" name="Shape 5"/>
          <p:cNvSpPr/>
          <p:nvPr/>
        </p:nvSpPr>
        <p:spPr>
          <a:xfrm>
            <a:off x="6153912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36792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rgbClr val="2E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4,354</a:t>
            </a:r>
            <a:endParaRPr lang="ar-SA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بإسنادها بلا متن مستقل</a:t>
            </a:r>
            <a:endParaRPr lang="ar-SA" sz="140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rgbClr val="2E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18,861</a:t>
            </a:r>
            <a:endParaRPr lang="ar-SA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راوياً بدرجاتهم من تقريب التهذيب</a:t>
            </a:r>
            <a:endParaRPr lang="ar-SA" sz="1400" dirty="0"/>
          </a:p>
        </p:txBody>
      </p:sp>
      <p:sp>
        <p:nvSpPr>
          <p:cNvPr id="13" name="Shape 11"/>
          <p:cNvSpPr/>
          <p:nvPr/>
        </p:nvSpPr>
        <p:spPr>
          <a:xfrm>
            <a:off x="667512" y="18288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rgbClr val="2E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61,779</a:t>
            </a:r>
            <a:endParaRPr lang="ar-SA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حديثاً مرتبطاً بمواضعه في التخريج</a:t>
            </a:r>
            <a:endParaRPr lang="ar-S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ar-SA" altLang="en-US" sz="16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المصحف: </a:t>
            </a:r>
            <a:pPr algn="r" indent="0" marL="0">
              <a:spcAft>
                <a:spcPts val="600"/>
              </a:spcAft>
              <a:buNone/>
            </a:pPr>
            <a:r>
              <a:rPr lang="ar-SA" altLang="en-US" sz="1600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6,236 آية من نص «تنزيل» برواية حفص.</a:t>
            </a:r>
            <a:endParaRPr lang="ar-SA" sz="16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SA" altLang="en-US" sz="16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الدرر السنية: </a:t>
            </a:r>
            <a:pPr algn="r" indent="0" marL="0">
              <a:spcAft>
                <a:spcPts val="600"/>
              </a:spcAft>
              <a:buNone/>
            </a:pPr>
            <a:r>
              <a:rPr lang="ar-SA" altLang="en-US" sz="1600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 الموسوعة الحديثية الرسمية، عند الطلب مع ذاكرة مؤقتة ودون نسخ.</a:t>
            </a:r>
            <a:endParaRPr lang="ar-SA" sz="16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SA" altLang="en-US" sz="16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المحدّثون المعتمدون: </a:t>
            </a:r>
            <a:pPr algn="r" indent="0" marL="0">
              <a:spcAft>
                <a:spcPts val="600"/>
              </a:spcAft>
              <a:buNone/>
            </a:pPr>
            <a:r>
              <a:rPr lang="ar-SA" altLang="en-US" sz="1600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الألباني وأحمد شاكر وشعيب الأرناؤوط، قابلون للتعديل من لوحة الإدارة.</a:t>
            </a:r>
            <a:endParaRPr lang="ar-SA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 المتخصص</a:t>
            </a:r>
            <a:endParaRPr lang="ar-SA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للحديث المختلف فيه: كل ما يحتاجه الباحث ليخرج بحكمه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6153912" y="182880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08792" y="2103120"/>
            <a:ext cx="502920" cy="502920"/>
          </a:xfrm>
          <a:prstGeom prst="ellipse">
            <a:avLst/>
          </a:prstGeom>
          <a:solidFill>
            <a:srgbClr val="1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0879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28232" y="2103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طرق المتن وأحكامها</a:t>
            </a:r>
            <a:endParaRPr lang="ar-SA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2651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صحابي رُوي عنه المتن بحكمه، مع بيان أن النص جزء من حديث أطول أو بلفظ آخر، و«المتن ثابت من حديث فلان»</a:t>
            </a:r>
            <a:endParaRPr lang="ar-SA" sz="1400" dirty="0"/>
          </a:p>
        </p:txBody>
      </p:sp>
      <p:sp>
        <p:nvSpPr>
          <p:cNvPr id="9" name="Shape 7"/>
          <p:cNvSpPr/>
          <p:nvPr/>
        </p:nvSpPr>
        <p:spPr>
          <a:xfrm>
            <a:off x="576072" y="182880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0952" y="2103120"/>
            <a:ext cx="502920" cy="502920"/>
          </a:xfrm>
          <a:prstGeom prst="ellipse">
            <a:avLst/>
          </a:prstGeom>
          <a:solidFill>
            <a:srgbClr val="1726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3095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2103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الأسانيد ودرجات الرواة</a:t>
            </a:r>
            <a:endParaRPr lang="ar-SA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" y="2651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إسناد في موضعه وفي مواضع التخريج، يُقرأ من صاحب الكتاب إلى الصحابي، وكل راوٍ ملوّن بدرجته</a:t>
            </a:r>
            <a:endParaRPr lang="ar-SA" sz="1400" dirty="0"/>
          </a:p>
        </p:txBody>
      </p:sp>
      <p:sp>
        <p:nvSpPr>
          <p:cNvPr id="14" name="Shape 12"/>
          <p:cNvSpPr/>
          <p:nvPr/>
        </p:nvSpPr>
        <p:spPr>
          <a:xfrm>
            <a:off x="6153912" y="393192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08792" y="4206240"/>
            <a:ext cx="502920" cy="502920"/>
          </a:xfrm>
          <a:prstGeom prst="ellipse">
            <a:avLst/>
          </a:prstGeom>
          <a:solidFill>
            <a:srgbClr val="1726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08792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شجرة الإسناد والمدار</a:t>
            </a:r>
            <a:endParaRPr lang="ar-SA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4754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دمج الطرق من الصحابي، وتفرعها حيث تختلف، وبيان مدار أكثر الطرق</a:t>
            </a:r>
            <a:endParaRPr lang="ar-SA" sz="1400" dirty="0"/>
          </a:p>
        </p:txBody>
      </p:sp>
      <p:sp>
        <p:nvSpPr>
          <p:cNvPr id="19" name="Shape 17"/>
          <p:cNvSpPr/>
          <p:nvPr/>
        </p:nvSpPr>
        <p:spPr>
          <a:xfrm>
            <a:off x="576072" y="393192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30952" y="4206240"/>
            <a:ext cx="502920" cy="502920"/>
          </a:xfrm>
          <a:prstGeom prst="ellipse">
            <a:avLst/>
          </a:prstGeom>
          <a:solidFill>
            <a:srgbClr val="1726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30952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الطرق</a:t>
            </a:r>
            <a:endParaRPr lang="ar-SA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4754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الرواة الضعفاء والمجاهيل في كل طريق، والمتابعات التي بلا متن مستقل</a:t>
            </a:r>
            <a:endParaRPr lang="ar-SA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i="1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التلوين توجيهي فقط ولا يدخل في أي حكم تصدره الأداة.</a:t>
            </a:r>
            <a:endParaRPr lang="ar-SA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</a:t>
            </a:r>
            <a:endParaRPr lang="ar-SA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8074152"/>
                <a:gridCol w="3017520"/>
              </a:tblGrid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التقنية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المكوّن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Django REST Framework، React مع Vite، SQLite أو PostgreSQL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الخلفية والواجهة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تطبيع عربي، TF-IDF على مقاطع الحروف، احتواء العبارات المتتالية، وتضمينات دلالية اختيارية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المطابقة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نموذج لغوي يُضاف من لوحة الإدارة (متوافق مع OpenAI أو Anthropic) مع تسلسل احتياطي وبديل قاعدي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استخراج النصوص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منطق حتمي، وجدول تحويل يراجعه المختص، ومحدّثون معتمدون، وتجميع الروايات حسب الصحابي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الأحكام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اختباراً آلياً، وأمر فحص للخادم، وسكربت تقييم يقارن بنموذج عام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الجودة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تحقق حتى الآن</a:t>
            </a:r>
            <a:endParaRPr lang="ar-SA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مقيسة على البيانات الحقيقية، وحالات صُحّحت أثناء البناء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8074152" y="17830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57032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2E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ar-SA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57032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اختباراً آلياً ناجحاً</a:t>
            </a:r>
            <a:endParaRPr lang="ar-SA" sz="1400" dirty="0"/>
          </a:p>
        </p:txBody>
      </p:sp>
      <p:sp>
        <p:nvSpPr>
          <p:cNvPr id="7" name="Shape 5"/>
          <p:cNvSpPr/>
          <p:nvPr/>
        </p:nvSpPr>
        <p:spPr>
          <a:xfrm>
            <a:off x="4416552" y="17830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2E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 ث</a:t>
            </a:r>
            <a:endParaRPr lang="ar-SA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الاستعلام المحلي</a:t>
            </a:r>
            <a:endParaRPr lang="ar-SA" sz="1400" dirty="0"/>
          </a:p>
        </p:txBody>
      </p:sp>
      <p:sp>
        <p:nvSpPr>
          <p:cNvPr id="10" name="Shape 8"/>
          <p:cNvSpPr/>
          <p:nvPr/>
        </p:nvSpPr>
        <p:spPr>
          <a:xfrm>
            <a:off x="758952" y="17830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DF1E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2E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~99%</a:t>
            </a:r>
            <a:endParaRPr lang="ar-SA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الروايات ذات المتن استُوردت</a:t>
            </a:r>
            <a:endParaRPr lang="ar-S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600"/>
              </a:spcAft>
              <a:buNone/>
            </a:pPr>
            <a:r>
              <a:rPr lang="ar-SA" altLang="en-US" sz="1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حقيقية أصبحت اختبارات دائمة: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«إن الله يحب إذا عمل أحدكم عملاً أن يتقنه»: كان يطابق حديثاً آخر في الدارمي، وصار يُعرض من الدرر بحكمه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«كصلصلة الجرس»: بلفظ مسند أحمد، فصار يُعرض من الصحيحين: متفق عليه، البخاري 2، مسلم 2333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ar-SA" altLang="en-US" sz="1500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«الأذنان من الرأس»: أحكام حديث أبي أمامة لم تعد تُلصق بحديث عبد الله بن زيد</a:t>
            </a:r>
            <a:endParaRPr lang="ar-SA" sz="15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SA" altLang="en-US" sz="1500" i="1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المقارن بنموذج عام: المنهجية والسكربت وقالب مجموعة الاختبار جاهزة، والأرقام تُنشر في المستودع بعد اكتمال المجموعة.</a:t>
            </a:r>
            <a:endParaRPr lang="ar-SA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قيود معروفة، نعلنها بوضوح</a:t>
            </a:r>
            <a:endParaRPr lang="ar-SA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1672" y="1810512"/>
            <a:ext cx="384048" cy="384048"/>
          </a:xfrm>
          <a:prstGeom prst="ellipse">
            <a:avLst/>
          </a:prstGeom>
          <a:solidFill>
            <a:srgbClr val="9C2F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الدرر السنية محجوبة عن خادم الإنتاج</a:t>
            </a:r>
            <a:endParaRPr lang="ar-SA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75104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خدمتهم تحت حماية Cloudflare تردّ HTTP 403 لعنوان الخادم، وتعمل من الأجهزة الشخصية. أُرسل طلب السماح والإذن. إلى ذلك الحين تعمل الأداة بالكتب التسعة والمصحف، وتمتنع عمّا سواهما.</a:t>
            </a:r>
            <a:endParaRPr lang="ar-SA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3044952"/>
            <a:ext cx="384048" cy="384048"/>
          </a:xfrm>
          <a:prstGeom prst="ellipse">
            <a:avLst/>
          </a:prstGeom>
          <a:solidFill>
            <a:srgbClr val="8A5A0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807208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ترخيص بيانات الكتب التسعة</a:t>
            </a:r>
            <a:endParaRPr lang="ar-SA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09544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مستودع «الكشاف» (GPL-3.0) مع قيد «لأغراض البحث»؛ نطلب إذن المؤلف، ونستشهد برسالته.</a:t>
            </a:r>
            <a:endParaRPr lang="ar-SA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91672" y="4279392"/>
            <a:ext cx="384048" cy="384048"/>
          </a:xfrm>
          <a:prstGeom prst="ellipse">
            <a:avLst/>
          </a:prstGeom>
          <a:solidFill>
            <a:srgbClr val="5662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41648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ناقصة</a:t>
            </a:r>
            <a:endParaRPr lang="ar-SA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43984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 10,680 راوياً بلا درجة في المصدر، وترقيم الموطأ والدارمي يحتاج تحققاً.</a:t>
            </a:r>
            <a:endParaRPr lang="ar-SA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3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91672" y="5513832"/>
            <a:ext cx="384048" cy="384048"/>
          </a:xfrm>
          <a:prstGeom prst="ellipse">
            <a:avLst/>
          </a:prstGeom>
          <a:solidFill>
            <a:srgbClr val="5662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76088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الرواية بالمعنى</a:t>
            </a:r>
            <a:endParaRPr lang="ar-SA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78424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اللفظية محدودة فيها؛ البحث الدلالي جاهز ومعطّل افتراضياً لتوفير الموارد.</a:t>
            </a:r>
            <a:endParaRPr lang="ar-SA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الاستمرار والتكاليف</a:t>
            </a:r>
            <a:endParaRPr lang="ar-SA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 منخفضة: </a:t>
            </a:r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خادم افتراضي واحد [التكلفة الشهرية]؛ البحث المحلي بلا خوادم متخصصة؛ النموذج اللغوي للاستخراج فقط ويمكن الاستغناء عنه.</a:t>
            </a:r>
            <a:endParaRPr lang="ar-SA" sz="17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المراجعة الشرعية مستمرة: </a:t>
            </a:r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بلاغات المستخدمين وجدول الأحكام والمحدّثون المعتمدون تُدار من لوحة الإدارة دون برمجة.</a:t>
            </a:r>
            <a:endParaRPr lang="ar-SA" sz="1700" dirty="0"/>
          </a:p>
        </p:txBody>
      </p:sp>
      <p:sp>
        <p:nvSpPr>
          <p:cNvPr id="4" name="Shape 2"/>
          <p:cNvSpPr/>
          <p:nvPr/>
        </p:nvSpPr>
        <p:spPr>
          <a:xfrm>
            <a:off x="9491472" y="374904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22363D"/>
          </a:solidFill>
          <a:ln/>
        </p:spPr>
      </p:sp>
      <p:sp>
        <p:nvSpPr>
          <p:cNvPr id="5" name="Shape 3"/>
          <p:cNvSpPr/>
          <p:nvPr/>
        </p:nvSpPr>
        <p:spPr>
          <a:xfrm>
            <a:off x="10908792" y="3931920"/>
            <a:ext cx="502920" cy="502920"/>
          </a:xfrm>
          <a:prstGeom prst="ellipse">
            <a:avLst/>
          </a:prstGeom>
          <a:solidFill>
            <a:srgbClr val="2E6B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0879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74352" y="4572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إذن الدرر وتفعيلها على الخادم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7251192" y="374904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22363D"/>
          </a:solidFill>
          <a:ln/>
        </p:spPr>
      </p:sp>
      <p:sp>
        <p:nvSpPr>
          <p:cNvPr id="9" name="Shape 7"/>
          <p:cNvSpPr/>
          <p:nvPr/>
        </p:nvSpPr>
        <p:spPr>
          <a:xfrm>
            <a:off x="8668512" y="3931920"/>
            <a:ext cx="502920" cy="502920"/>
          </a:xfrm>
          <a:prstGeom prst="ellipse">
            <a:avLst/>
          </a:prstGeom>
          <a:solidFill>
            <a:srgbClr val="2E6B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6851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34072" y="4572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محلية لأشهر الموضوعات المتداولة</a:t>
            </a:r>
            <a:endParaRPr lang="ar-SA" sz="1400" dirty="0"/>
          </a:p>
        </p:txBody>
      </p:sp>
      <p:sp>
        <p:nvSpPr>
          <p:cNvPr id="12" name="Shape 10"/>
          <p:cNvSpPr/>
          <p:nvPr/>
        </p:nvSpPr>
        <p:spPr>
          <a:xfrm>
            <a:off x="5010912" y="374904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22363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28232" y="3931920"/>
            <a:ext cx="502920" cy="502920"/>
          </a:xfrm>
          <a:prstGeom prst="ellipse">
            <a:avLst/>
          </a:prstGeom>
          <a:solidFill>
            <a:srgbClr val="2E6B4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4572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تشغيل التقييم المقارن ونشر أرقامه</a:t>
            </a:r>
            <a:endParaRPr lang="ar-SA" sz="1400" dirty="0"/>
          </a:p>
        </p:txBody>
      </p:sp>
      <p:sp>
        <p:nvSpPr>
          <p:cNvPr id="16" name="Shape 14"/>
          <p:cNvSpPr/>
          <p:nvPr/>
        </p:nvSpPr>
        <p:spPr>
          <a:xfrm>
            <a:off x="2770632" y="374904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223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4187952" y="3931920"/>
            <a:ext cx="502920" cy="502920"/>
          </a:xfrm>
          <a:prstGeom prst="ellipse">
            <a:avLst/>
          </a:prstGeom>
          <a:solidFill>
            <a:srgbClr val="2E6B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8795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953512" y="4572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الدلالي للرواية بالمعنى</a:t>
            </a:r>
            <a:endParaRPr lang="ar-SA" sz="1400" dirty="0"/>
          </a:p>
        </p:txBody>
      </p:sp>
      <p:sp>
        <p:nvSpPr>
          <p:cNvPr id="20" name="Shape 18"/>
          <p:cNvSpPr/>
          <p:nvPr/>
        </p:nvSpPr>
        <p:spPr>
          <a:xfrm>
            <a:off x="530352" y="374904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22363D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7672" y="3931920"/>
            <a:ext cx="502920" cy="502920"/>
          </a:xfrm>
          <a:prstGeom prst="ellipse">
            <a:avLst/>
          </a:prstGeom>
          <a:solidFill>
            <a:srgbClr val="2E6B4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94767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45720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كتب أخرى (الشاملة) وواجهة صوتية</a:t>
            </a:r>
            <a:endParaRPr lang="ar-SA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مُثبِت</dc:title>
  <dc:subject>PptxGenJS Presentation</dc:subject>
  <dc:creator>PptxGenJS</dc:creator>
  <cp:lastModifiedBy>PptxGenJS</cp:lastModifiedBy>
  <cp:revision>1</cp:revision>
  <dcterms:created xsi:type="dcterms:W3CDTF">2026-10-05T22:38:01Z</dcterms:created>
  <dcterms:modified xsi:type="dcterms:W3CDTF">2026-10-05T22:38:01Z</dcterms:modified>
</cp:coreProperties>
</file>